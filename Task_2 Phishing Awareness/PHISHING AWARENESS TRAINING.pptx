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b="1"/>
              <a:t>PHISHING AWARENESS TRAINING</a:t>
            </a:r>
            <a:endParaRPr lang="zh-CN" altLang="en-US" b="1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217545" y="2905760"/>
            <a:ext cx="7742555" cy="65532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Recognizing &amp; Avoiding Phishing Attacks</a:t>
            </a:r>
            <a:endParaRPr lang="zh-CN" altLang="en-US"/>
          </a:p>
        </p:txBody>
      </p:sp>
      <p:sp>
        <p:nvSpPr>
          <p:cNvPr id="3" name="副标题 4"/>
          <p:cNvSpPr>
            <a:spLocks noGrp="1"/>
          </p:cNvSpPr>
          <p:nvPr/>
        </p:nvSpPr>
        <p:spPr>
          <a:xfrm>
            <a:off x="367665" y="5415280"/>
            <a:ext cx="5347970" cy="121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/>
              <a:t>Prepared by: Tamheed Tariq</a:t>
            </a:r>
            <a:endParaRPr lang="zh-CN" altLang="en-US"/>
          </a:p>
          <a:p>
            <a:pPr algn="l"/>
            <a:r>
              <a:rPr lang="zh-CN" altLang="en-US"/>
              <a:t>Field: Cybersecurity Awareness</a:t>
            </a:r>
            <a:endParaRPr lang="zh-CN" altLang="en-US"/>
          </a:p>
          <a:p>
            <a:pPr algn="l"/>
            <a:r>
              <a:rPr lang="zh-CN" altLang="en-US"/>
              <a:t>Date:</a:t>
            </a:r>
            <a:r>
              <a:rPr lang="en-US" altLang="zh-CN"/>
              <a:t>11 - Jan - 2026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283200" cy="979805"/>
          </a:xfrm>
        </p:spPr>
        <p:txBody>
          <a:bodyPr/>
          <a:p>
            <a:r>
              <a:rPr lang="en-US" b="1"/>
              <a:t>Training Objectives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084705"/>
            <a:ext cx="7122160" cy="3801745"/>
          </a:xfrm>
        </p:spPr>
        <p:txBody>
          <a:bodyPr/>
          <a:p>
            <a:r>
              <a:rPr lang="en-US" sz="2000"/>
              <a:t>Understand what phishing is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Identify different types of phishing attacks</a:t>
            </a:r>
            <a:endParaRPr lang="en-US" sz="2000"/>
          </a:p>
          <a:p>
            <a:endParaRPr lang="en-US" sz="2000"/>
          </a:p>
          <a:p>
            <a:r>
              <a:rPr lang="en-US" sz="2000"/>
              <a:t>Recognize phishing emails, websites, and messages</a:t>
            </a:r>
            <a:endParaRPr lang="en-US" sz="2000"/>
          </a:p>
          <a:p>
            <a:endParaRPr lang="en-US" sz="2000"/>
          </a:p>
          <a:p>
            <a:r>
              <a:rPr lang="en-US" sz="2000"/>
              <a:t>Understand social engineering tactics</a:t>
            </a:r>
            <a:endParaRPr lang="en-US" sz="2000"/>
          </a:p>
          <a:p>
            <a:endParaRPr lang="en-US" sz="2000"/>
          </a:p>
          <a:p>
            <a:r>
              <a:rPr lang="en-US" sz="2000"/>
              <a:t>Learn how to avoid and respond to phishing attacks</a:t>
            </a: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47700" y="1238250"/>
            <a:ext cx="4509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After this training, you will be able to: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132070" cy="996315"/>
          </a:xfrm>
        </p:spPr>
        <p:txBody>
          <a:bodyPr/>
          <a:p>
            <a:r>
              <a:rPr lang="en-US" b="1"/>
              <a:t>What is Phishing?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765" y="2770505"/>
            <a:ext cx="4090035" cy="1740535"/>
          </a:xfrm>
        </p:spPr>
        <p:txBody>
          <a:bodyPr/>
          <a:p>
            <a:r>
              <a:rPr lang="en-US" sz="2000"/>
              <a:t>Passwords</a:t>
            </a:r>
            <a:endParaRPr lang="en-US" sz="2000"/>
          </a:p>
          <a:p>
            <a:endParaRPr lang="en-US" sz="2000"/>
          </a:p>
          <a:p>
            <a:r>
              <a:rPr lang="en-US" sz="2000"/>
              <a:t>Bank details</a:t>
            </a:r>
            <a:endParaRPr lang="en-US" sz="2000"/>
          </a:p>
          <a:p>
            <a:endParaRPr lang="en-US" sz="2000"/>
          </a:p>
          <a:p>
            <a:r>
              <a:rPr lang="en-US" sz="2000"/>
              <a:t>Personal information</a:t>
            </a: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47700" y="1278890"/>
            <a:ext cx="61487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2400"/>
              <a:t>Phishing is a cyber attack used to steal: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647700" y="4865370"/>
            <a:ext cx="6720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2400"/>
              <a:t>Attackers pretend to be trusted organizations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6902450" y="1238250"/>
            <a:ext cx="497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2400"/>
              <a:t>Usually delivered through:</a:t>
            </a:r>
            <a:endParaRPr lang="en-US" sz="2400"/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7287895" y="1888490"/>
            <a:ext cx="4261485" cy="2635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Emails</a:t>
            </a:r>
            <a:endParaRPr lang="en-US"/>
          </a:p>
          <a:p>
            <a:endParaRPr lang="en-US"/>
          </a:p>
          <a:p>
            <a:r>
              <a:rPr lang="en-US"/>
              <a:t>Messages</a:t>
            </a:r>
            <a:endParaRPr lang="en-US"/>
          </a:p>
          <a:p>
            <a:endParaRPr lang="en-US"/>
          </a:p>
          <a:p>
            <a:r>
              <a:rPr lang="en-US"/>
              <a:t>Phone calls</a:t>
            </a:r>
            <a:endParaRPr lang="en-US"/>
          </a:p>
          <a:p>
            <a:endParaRPr lang="en-US"/>
          </a:p>
          <a:p>
            <a:r>
              <a:rPr lang="en-US"/>
              <a:t>Fake websites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211310" cy="1122045"/>
          </a:xfrm>
        </p:spPr>
        <p:txBody>
          <a:bodyPr/>
          <a:p>
            <a:r>
              <a:rPr lang="en-US" b="1"/>
              <a:t>Why Phishing is Dangerous</a:t>
            </a:r>
            <a:endParaRPr 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647700" y="1441450"/>
            <a:ext cx="5059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Can lead to: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22350" y="1954530"/>
            <a:ext cx="313626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600"/>
              <a:t>Financial loss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600"/>
              <a:t>Identity theft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600"/>
              <a:t>Account hacking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sz="1600"/>
              <a:t>Data breaches</a:t>
            </a:r>
            <a:endParaRPr lang="en-US" sz="1600"/>
          </a:p>
        </p:txBody>
      </p:sp>
      <p:sp>
        <p:nvSpPr>
          <p:cNvPr id="6" name="Text Box 5"/>
          <p:cNvSpPr txBox="1"/>
          <p:nvPr/>
        </p:nvSpPr>
        <p:spPr>
          <a:xfrm>
            <a:off x="647700" y="4294505"/>
            <a:ext cx="5059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Most cyber attacks start with phishing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7700" y="5003165"/>
            <a:ext cx="5059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Even technical users can be tricked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3030" y="1667510"/>
            <a:ext cx="5071745" cy="4243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075930" cy="932815"/>
          </a:xfrm>
        </p:spPr>
        <p:txBody>
          <a:bodyPr/>
          <a:p>
            <a:r>
              <a:rPr lang="en-US" sz="4000" b="1"/>
              <a:t>Common Types of Phishing</a:t>
            </a:r>
            <a:endParaRPr lang="en-US" sz="4000" b="1"/>
          </a:p>
        </p:txBody>
      </p:sp>
      <p:sp>
        <p:nvSpPr>
          <p:cNvPr id="4" name="Text Box 3"/>
          <p:cNvSpPr txBox="1"/>
          <p:nvPr/>
        </p:nvSpPr>
        <p:spPr>
          <a:xfrm>
            <a:off x="803910" y="1582420"/>
            <a:ext cx="415417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sz="2000" b="1"/>
              <a:t>Email Phishing</a:t>
            </a:r>
            <a:endParaRPr lang="en-US" sz="2000" b="1"/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Smishing (SMS Phishing)</a:t>
            </a:r>
            <a:endParaRPr lang="en-US" sz="2000" b="1"/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Vishing (Voice Phishing)</a:t>
            </a:r>
            <a:endParaRPr lang="en-US" sz="2000" b="1"/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Website Phishing</a:t>
            </a:r>
            <a:endParaRPr lang="en-US" sz="2000" b="1"/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Spear Phishing</a:t>
            </a:r>
            <a:endParaRPr lang="en-US" sz="2000" b="1"/>
          </a:p>
          <a:p>
            <a:pPr marL="342900" indent="-342900">
              <a:buAutoNum type="arabicPeriod"/>
            </a:pPr>
            <a:endParaRPr lang="en-US" sz="2000" b="1"/>
          </a:p>
          <a:p>
            <a:pPr marL="342900" indent="-342900">
              <a:buAutoNum type="arabicPeriod"/>
            </a:pPr>
            <a:r>
              <a:rPr lang="en-US" sz="2000" b="1"/>
              <a:t>Clone Phishing</a:t>
            </a:r>
            <a:endParaRPr 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5600" y="237490"/>
            <a:ext cx="5582285" cy="866140"/>
          </a:xfrm>
        </p:spPr>
        <p:txBody>
          <a:bodyPr/>
          <a:p>
            <a:r>
              <a:rPr lang="en-US" b="1"/>
              <a:t>Email Phishing</a:t>
            </a:r>
            <a:endParaRPr lang="en-US" b="1"/>
          </a:p>
        </p:txBody>
      </p:sp>
      <p:sp>
        <p:nvSpPr>
          <p:cNvPr id="3" name="Text Box 2"/>
          <p:cNvSpPr txBox="1"/>
          <p:nvPr/>
        </p:nvSpPr>
        <p:spPr>
          <a:xfrm>
            <a:off x="647700" y="1586230"/>
            <a:ext cx="4943475" cy="3907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Fake emails pretending to be from: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Banks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Companies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Social media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Ask you to: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Click a link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Download an attachment</a:t>
            </a:r>
            <a:endParaRPr lang="en-US" sz="1600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sz="1600"/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en-US" sz="1600"/>
              <a:t>Verify your account</a:t>
            </a:r>
            <a:endParaRPr lang="en-US" sz="16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175" y="1813560"/>
            <a:ext cx="6136640" cy="3452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47700" y="258445"/>
            <a:ext cx="5676900" cy="1039495"/>
          </a:xfrm>
        </p:spPr>
        <p:txBody>
          <a:bodyPr/>
          <a:p>
            <a:r>
              <a:rPr lang="en-US" b="1"/>
              <a:t>Smishing &amp; Vishing</a:t>
            </a:r>
            <a:endParaRPr lang="en-US" b="1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7700" y="1473200"/>
            <a:ext cx="5676900" cy="3834130"/>
          </a:xfrm>
        </p:spPr>
        <p:txBody>
          <a:bodyPr/>
          <a:p>
            <a:r>
              <a:rPr lang="en-US" sz="1600" b="1"/>
              <a:t>Smishing</a:t>
            </a:r>
            <a:endParaRPr lang="en-US" sz="2000"/>
          </a:p>
          <a:p>
            <a:endParaRPr lang="en-US" sz="2000"/>
          </a:p>
          <a:p>
            <a:pPr lvl="1"/>
            <a:r>
              <a:rPr lang="en-US" sz="1600"/>
              <a:t>Phishing via SMS</a:t>
            </a:r>
            <a:endParaRPr lang="en-US" sz="1600"/>
          </a:p>
          <a:p>
            <a:endParaRPr lang="en-US" sz="1800"/>
          </a:p>
          <a:p>
            <a:pPr lvl="1"/>
            <a:r>
              <a:rPr lang="en-US" sz="1600"/>
              <a:t>Fake prize, OTP, or delivery messages</a:t>
            </a:r>
            <a:endParaRPr lang="en-US" sz="1600"/>
          </a:p>
          <a:p>
            <a:endParaRPr lang="en-US" sz="2000"/>
          </a:p>
          <a:p>
            <a:r>
              <a:rPr lang="en-US" sz="1600" b="1"/>
              <a:t>Vishing</a:t>
            </a:r>
            <a:endParaRPr lang="en-US" sz="2000"/>
          </a:p>
          <a:p>
            <a:endParaRPr lang="en-US" sz="2000"/>
          </a:p>
          <a:p>
            <a:pPr lvl="1"/>
            <a:r>
              <a:rPr lang="en-US" sz="1600"/>
              <a:t>Phishing via phone calls</a:t>
            </a:r>
            <a:endParaRPr lang="en-US" sz="1600"/>
          </a:p>
          <a:p>
            <a:endParaRPr lang="en-US" sz="1800"/>
          </a:p>
          <a:p>
            <a:pPr lvl="1"/>
            <a:r>
              <a:rPr lang="en-US" sz="1600"/>
              <a:t>Fake support or bank representatives</a:t>
            </a:r>
            <a:endParaRPr lang="en-US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3100" y="2046605"/>
            <a:ext cx="6003925" cy="217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535930" cy="1071880"/>
          </a:xfrm>
        </p:spPr>
        <p:txBody>
          <a:bodyPr/>
          <a:p>
            <a:r>
              <a:rPr lang="en-US" b="1"/>
              <a:t>Website Phishing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5311775" cy="4304030"/>
          </a:xfrm>
        </p:spPr>
        <p:txBody>
          <a:bodyPr>
            <a:noAutofit/>
          </a:bodyPr>
          <a:p>
            <a:r>
              <a:rPr lang="en-US" sz="1800"/>
              <a:t>Fake websites that look real</a:t>
            </a:r>
            <a:endParaRPr lang="en-US" sz="1800"/>
          </a:p>
          <a:p>
            <a:endParaRPr lang="en-US" sz="1800"/>
          </a:p>
          <a:p>
            <a:r>
              <a:rPr lang="en-US" sz="1800"/>
              <a:t>Designed to steal:</a:t>
            </a:r>
            <a:endParaRPr lang="en-US" sz="1800"/>
          </a:p>
          <a:p>
            <a:endParaRPr lang="en-US" sz="1800"/>
          </a:p>
          <a:p>
            <a:pPr lvl="1"/>
            <a:r>
              <a:rPr lang="en-US" sz="1400"/>
              <a:t>Login credentials</a:t>
            </a:r>
            <a:endParaRPr lang="en-US" sz="1400"/>
          </a:p>
          <a:p>
            <a:endParaRPr lang="en-US" sz="1600"/>
          </a:p>
          <a:p>
            <a:pPr lvl="1"/>
            <a:r>
              <a:rPr lang="en-US" sz="1400"/>
              <a:t>Credit card details</a:t>
            </a:r>
            <a:endParaRPr lang="en-US" sz="1400"/>
          </a:p>
          <a:p>
            <a:endParaRPr lang="en-US" sz="1600"/>
          </a:p>
          <a:p>
            <a:r>
              <a:rPr lang="en-US" sz="1800"/>
              <a:t>URLs may look similar but are fake</a:t>
            </a:r>
            <a:endParaRPr lang="en-US" sz="1800"/>
          </a:p>
          <a:p>
            <a:endParaRPr lang="en-US" sz="1800"/>
          </a:p>
          <a:p>
            <a:pPr marL="0" indent="0">
              <a:buNone/>
            </a:pPr>
            <a:r>
              <a:rPr lang="en-US" sz="1800" b="1"/>
              <a:t>Example: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	www.paypaI.com (I instead of L)</a:t>
            </a:r>
            <a:endParaRPr lang="en-US" sz="18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1609090"/>
            <a:ext cx="5429250" cy="3053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141970" cy="1055370"/>
          </a:xfrm>
        </p:spPr>
        <p:txBody>
          <a:bodyPr/>
          <a:p>
            <a:r>
              <a:rPr lang="en-US" b="1"/>
              <a:t>How Phishing Attacks Work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6330315" cy="3842385"/>
          </a:xfrm>
        </p:spPr>
        <p:txBody>
          <a:bodyPr/>
          <a:p>
            <a:pPr marL="457200" indent="-457200">
              <a:buAutoNum type="arabicPeriod"/>
            </a:pPr>
            <a:r>
              <a:rPr lang="en-US" sz="2000"/>
              <a:t>Attacker creates fake message/website</a:t>
            </a:r>
            <a:endParaRPr lang="en-US" sz="2000"/>
          </a:p>
          <a:p>
            <a:pPr marL="457200" indent="-457200">
              <a:buAutoNum type="arabicPeriod"/>
            </a:pP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Victim receives email/message</a:t>
            </a:r>
            <a:endParaRPr lang="en-US" sz="2000"/>
          </a:p>
          <a:p>
            <a:pPr marL="457200" indent="-457200">
              <a:buAutoNum type="arabicPeriod"/>
            </a:pP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Victim clicks link or enters data</a:t>
            </a:r>
            <a:endParaRPr lang="en-US" sz="2000"/>
          </a:p>
          <a:p>
            <a:pPr marL="457200" indent="-457200">
              <a:buAutoNum type="arabicPeriod"/>
            </a:pP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Attacker steals information</a:t>
            </a:r>
            <a:endParaRPr lang="en-US" sz="2000"/>
          </a:p>
          <a:p>
            <a:pPr marL="457200" indent="-457200">
              <a:buAutoNum type="arabicPeriod"/>
            </a:pP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Account or money is compromised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283575" cy="1071880"/>
          </a:xfrm>
        </p:spPr>
        <p:txBody>
          <a:bodyPr/>
          <a:p>
            <a:r>
              <a:rPr lang="en-US" b="1"/>
              <a:t>Real Phishing Email Example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3258185" cy="3922395"/>
          </a:xfrm>
        </p:spPr>
        <p:txBody>
          <a:bodyPr/>
          <a:p>
            <a:r>
              <a:rPr lang="en-US" sz="2000"/>
              <a:t>Look for:</a:t>
            </a:r>
            <a:endParaRPr lang="en-US" sz="2000"/>
          </a:p>
          <a:p>
            <a:endParaRPr lang="en-US" sz="2000"/>
          </a:p>
          <a:p>
            <a:r>
              <a:rPr lang="en-US" sz="2000"/>
              <a:t>Fake sender email</a:t>
            </a:r>
            <a:endParaRPr lang="en-US" sz="2000"/>
          </a:p>
          <a:p>
            <a:endParaRPr lang="en-US" sz="2000"/>
          </a:p>
          <a:p>
            <a:r>
              <a:rPr lang="en-US" sz="2000"/>
              <a:t>Urgent message</a:t>
            </a:r>
            <a:endParaRPr lang="en-US" sz="2000"/>
          </a:p>
          <a:p>
            <a:endParaRPr lang="en-US" sz="2000"/>
          </a:p>
          <a:p>
            <a:r>
              <a:rPr lang="en-US" sz="2000"/>
              <a:t>Suspicious link</a:t>
            </a:r>
            <a:endParaRPr lang="en-US" sz="2000"/>
          </a:p>
          <a:p>
            <a:endParaRPr lang="en-US" sz="2000"/>
          </a:p>
          <a:p>
            <a:r>
              <a:rPr lang="en-US" sz="2000"/>
              <a:t>Grammar mistakes</a:t>
            </a:r>
            <a:endParaRPr 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5035" y="1191260"/>
            <a:ext cx="5641340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302115" cy="991870"/>
          </a:xfrm>
        </p:spPr>
        <p:txBody>
          <a:bodyPr/>
          <a:p>
            <a:r>
              <a:rPr lang="en-US" b="1"/>
              <a:t>Red Flags of Phishing Emails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70025"/>
            <a:ext cx="6393180" cy="4559300"/>
          </a:xfrm>
        </p:spPr>
        <p:txBody>
          <a:bodyPr>
            <a:normAutofit fontScale="90000"/>
          </a:bodyPr>
          <a:p>
            <a:r>
              <a:rPr lang="en-US" sz="2800"/>
              <a:t>Unknown sender</a:t>
            </a:r>
            <a:endParaRPr lang="en-US" sz="2800"/>
          </a:p>
          <a:p>
            <a:endParaRPr lang="en-US" sz="2800"/>
          </a:p>
          <a:p>
            <a:r>
              <a:rPr lang="en-US" sz="2800"/>
              <a:t>Urgent or threatening language</a:t>
            </a:r>
            <a:endParaRPr lang="en-US" sz="2800"/>
          </a:p>
          <a:p>
            <a:endParaRPr lang="en-US" sz="2800"/>
          </a:p>
          <a:p>
            <a:r>
              <a:rPr lang="en-US" sz="2800"/>
              <a:t>Spelling &amp; grammar errors</a:t>
            </a:r>
            <a:endParaRPr lang="en-US" sz="2800"/>
          </a:p>
          <a:p>
            <a:endParaRPr lang="en-US" sz="2800"/>
          </a:p>
          <a:p>
            <a:r>
              <a:rPr lang="en-US" sz="2800"/>
              <a:t>Suspicious links</a:t>
            </a:r>
            <a:endParaRPr lang="en-US" sz="2800"/>
          </a:p>
          <a:p>
            <a:endParaRPr lang="en-US" sz="2800"/>
          </a:p>
          <a:p>
            <a:r>
              <a:rPr lang="en-US" sz="2800"/>
              <a:t>Requests for sensitive data</a:t>
            </a:r>
            <a:endParaRPr 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7440930" cy="1007745"/>
          </a:xfrm>
        </p:spPr>
        <p:txBody>
          <a:bodyPr/>
          <a:p>
            <a:r>
              <a:rPr lang="en-US" b="1"/>
              <a:t>Identifying Fake Links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4753610" cy="4240530"/>
          </a:xfrm>
        </p:spPr>
        <p:txBody>
          <a:bodyPr/>
          <a:p>
            <a:r>
              <a:rPr lang="en-US" sz="2400"/>
              <a:t>Hover over links to see real URL</a:t>
            </a:r>
            <a:endParaRPr lang="en-US" sz="2400"/>
          </a:p>
          <a:p>
            <a:endParaRPr lang="en-US" sz="2400"/>
          </a:p>
          <a:p>
            <a:r>
              <a:rPr lang="en-US" sz="2400"/>
              <a:t>Shortened links (bit.ly, tinyurl)</a:t>
            </a:r>
            <a:endParaRPr lang="en-US" sz="2400"/>
          </a:p>
          <a:p>
            <a:endParaRPr lang="en-US" sz="2400"/>
          </a:p>
          <a:p>
            <a:r>
              <a:rPr lang="en-US" sz="2400"/>
              <a:t>Misspelled domain names</a:t>
            </a:r>
            <a:endParaRPr lang="en-US" sz="2400"/>
          </a:p>
          <a:p>
            <a:endParaRPr lang="en-US" sz="2400"/>
          </a:p>
          <a:p>
            <a:r>
              <a:rPr lang="en-US" sz="2400"/>
              <a:t>HTTP instead of HTTPS</a:t>
            </a:r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clrChange>
              <a:clrFrom>
                <a:srgbClr val="0449C4">
                  <a:alpha val="100000"/>
                </a:srgbClr>
              </a:clrFrom>
              <a:clrTo>
                <a:srgbClr val="0449C4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2935" y="966470"/>
            <a:ext cx="6210935" cy="492569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73990"/>
            <a:ext cx="6783705" cy="1071880"/>
          </a:xfrm>
        </p:spPr>
        <p:txBody>
          <a:bodyPr/>
          <a:p>
            <a:r>
              <a:rPr lang="en-US" b="1"/>
              <a:t>Social Engineering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49705"/>
            <a:ext cx="4786630" cy="4479290"/>
          </a:xfrm>
        </p:spPr>
        <p:txBody>
          <a:bodyPr/>
          <a:p>
            <a:r>
              <a:rPr lang="en-US" sz="2000"/>
              <a:t>Psychological manipulation</a:t>
            </a:r>
            <a:endParaRPr lang="en-US" sz="2000"/>
          </a:p>
          <a:p>
            <a:endParaRPr lang="en-US" sz="2000"/>
          </a:p>
          <a:p>
            <a:r>
              <a:rPr lang="en-US" sz="2000"/>
              <a:t>Attacker exploits:</a:t>
            </a:r>
            <a:endParaRPr lang="en-US" sz="2000"/>
          </a:p>
          <a:p>
            <a:endParaRPr lang="en-US" sz="2000"/>
          </a:p>
          <a:p>
            <a:pPr lvl="1"/>
            <a:r>
              <a:rPr lang="en-US" sz="1600"/>
              <a:t>Fear</a:t>
            </a:r>
            <a:endParaRPr lang="en-US" sz="1600"/>
          </a:p>
          <a:p>
            <a:endParaRPr lang="en-US" sz="1800"/>
          </a:p>
          <a:p>
            <a:pPr lvl="1"/>
            <a:r>
              <a:rPr lang="en-US" sz="1600"/>
              <a:t>Trust</a:t>
            </a:r>
            <a:endParaRPr lang="en-US" sz="1600"/>
          </a:p>
          <a:p>
            <a:endParaRPr lang="en-US" sz="1800"/>
          </a:p>
          <a:p>
            <a:pPr lvl="1"/>
            <a:r>
              <a:rPr lang="en-US" sz="1600"/>
              <a:t>Urgency</a:t>
            </a:r>
            <a:endParaRPr lang="en-US" sz="1600"/>
          </a:p>
          <a:p>
            <a:endParaRPr lang="en-US" sz="1800"/>
          </a:p>
          <a:p>
            <a:pPr lvl="1"/>
            <a:r>
              <a:rPr lang="en-US" sz="1600"/>
              <a:t>Curiosity</a:t>
            </a:r>
            <a:endParaRPr lang="en-US" sz="1600"/>
          </a:p>
          <a:p>
            <a:endParaRPr lang="en-US" sz="1800"/>
          </a:p>
          <a:p>
            <a:r>
              <a:rPr lang="en-US" sz="2000"/>
              <a:t>Used in most phishing attacks</a:t>
            </a:r>
            <a:endParaRPr 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clrChange>
              <a:clrFrom>
                <a:srgbClr val="FAFBFD">
                  <a:alpha val="100000"/>
                </a:srgbClr>
              </a:clrFrom>
              <a:clrTo>
                <a:srgbClr val="FAFB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0010" y="10477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003915" cy="1118870"/>
          </a:xfrm>
        </p:spPr>
        <p:txBody>
          <a:bodyPr/>
          <a:p>
            <a:r>
              <a:rPr lang="en-US" b="1"/>
              <a:t>Common Social Engineering Techniques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6980" y="1825625"/>
            <a:ext cx="6893560" cy="4351655"/>
          </a:xfrm>
        </p:spPr>
        <p:txBody>
          <a:bodyPr/>
          <a:p>
            <a:r>
              <a:rPr lang="en-US" sz="2400"/>
              <a:t>Fear (Account will be closed)</a:t>
            </a:r>
            <a:endParaRPr lang="en-US" sz="2400"/>
          </a:p>
          <a:p>
            <a:endParaRPr lang="en-US" sz="2400"/>
          </a:p>
          <a:p>
            <a:r>
              <a:rPr lang="en-US" sz="2400"/>
              <a:t>Urgency (Immediate action required)</a:t>
            </a:r>
            <a:endParaRPr lang="en-US" sz="2400"/>
          </a:p>
          <a:p>
            <a:endParaRPr lang="en-US" sz="2400"/>
          </a:p>
          <a:p>
            <a:r>
              <a:rPr lang="en-US" sz="2400"/>
              <a:t>Authority (Message from boss)</a:t>
            </a:r>
            <a:endParaRPr lang="en-US" sz="2400"/>
          </a:p>
          <a:p>
            <a:endParaRPr lang="en-US" sz="2400"/>
          </a:p>
          <a:p>
            <a:r>
              <a:rPr lang="en-US" sz="2400"/>
              <a:t>Reward (You won a prize)</a:t>
            </a:r>
            <a:endParaRPr lang="en-US" sz="2400"/>
          </a:p>
          <a:p>
            <a:endParaRPr lang="en-US" sz="2400"/>
          </a:p>
          <a:p>
            <a:r>
              <a:rPr lang="en-US" sz="2400"/>
              <a:t>Helpfulness (Fake support request)</a:t>
            </a:r>
            <a:endParaRPr 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9272270" cy="1007745"/>
          </a:xfrm>
        </p:spPr>
        <p:txBody>
          <a:bodyPr/>
          <a:p>
            <a:r>
              <a:rPr lang="en-US" b="1"/>
              <a:t>How to Avoid Phishing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440" y="1635125"/>
            <a:ext cx="4897755" cy="4033520"/>
          </a:xfrm>
        </p:spPr>
        <p:txBody>
          <a:bodyPr/>
          <a:p>
            <a:r>
              <a:rPr lang="en-US" sz="2000"/>
              <a:t> Verify sender identity</a:t>
            </a:r>
            <a:endParaRPr lang="en-US" sz="2000"/>
          </a:p>
          <a:p>
            <a:endParaRPr lang="en-US" sz="2000"/>
          </a:p>
          <a:p>
            <a:r>
              <a:rPr lang="en-US" sz="2000"/>
              <a:t> Do not click unknown links</a:t>
            </a:r>
            <a:endParaRPr lang="en-US" sz="2000"/>
          </a:p>
          <a:p>
            <a:endParaRPr lang="en-US" sz="2000"/>
          </a:p>
          <a:p>
            <a:r>
              <a:rPr lang="en-US" sz="2000"/>
              <a:t> Do not share passwords or OTPs</a:t>
            </a:r>
            <a:endParaRPr lang="en-US" sz="2000"/>
          </a:p>
          <a:p>
            <a:endParaRPr lang="en-US" sz="2000"/>
          </a:p>
          <a:p>
            <a:r>
              <a:rPr lang="en-US" sz="2000"/>
              <a:t> Use strong passwords</a:t>
            </a:r>
            <a:endParaRPr lang="en-US" sz="2000"/>
          </a:p>
          <a:p>
            <a:endParaRPr lang="en-US" sz="2000"/>
          </a:p>
          <a:p>
            <a:r>
              <a:rPr lang="en-US" sz="2000"/>
              <a:t> Enable 2-Factor Authentication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176635" cy="1071880"/>
          </a:xfrm>
        </p:spPr>
        <p:txBody>
          <a:bodyPr/>
          <a:p>
            <a:r>
              <a:rPr lang="en-US" b="1"/>
              <a:t>What To Do If You Receive a Phishing Message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830" y="1909445"/>
            <a:ext cx="5768975" cy="3855085"/>
          </a:xfrm>
        </p:spPr>
        <p:txBody>
          <a:bodyPr/>
          <a:p>
            <a:r>
              <a:rPr lang="en-US" sz="2000"/>
              <a:t>Do NOT click links</a:t>
            </a:r>
            <a:endParaRPr lang="en-US" sz="2000"/>
          </a:p>
          <a:p>
            <a:endParaRPr lang="en-US" sz="2000"/>
          </a:p>
          <a:p>
            <a:r>
              <a:rPr lang="en-US" sz="2000"/>
              <a:t>Do NOT download attachments</a:t>
            </a:r>
            <a:endParaRPr lang="en-US" sz="2000"/>
          </a:p>
          <a:p>
            <a:endParaRPr lang="en-US" sz="2000"/>
          </a:p>
          <a:p>
            <a:r>
              <a:rPr lang="en-US" sz="2000"/>
              <a:t>Report the message</a:t>
            </a:r>
            <a:endParaRPr lang="en-US" sz="2000"/>
          </a:p>
          <a:p>
            <a:endParaRPr lang="en-US" sz="2000"/>
          </a:p>
          <a:p>
            <a:r>
              <a:rPr lang="en-US" sz="2000"/>
              <a:t>Delete it immediately</a:t>
            </a:r>
            <a:endParaRPr lang="en-US" sz="2000"/>
          </a:p>
          <a:p>
            <a:endParaRPr lang="en-US" sz="2000"/>
          </a:p>
          <a:p>
            <a:r>
              <a:rPr lang="en-US" sz="2000"/>
              <a:t>Inform IT or security team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7110730" cy="1055370"/>
          </a:xfrm>
        </p:spPr>
        <p:txBody>
          <a:bodyPr/>
          <a:p>
            <a:r>
              <a:rPr lang="en-US" b="1"/>
              <a:t>What If You Are a Victim?</a:t>
            </a:r>
            <a:endParaRPr lang="en-US" b="1"/>
          </a:p>
        </p:txBody>
      </p:sp>
      <p:sp>
        <p:nvSpPr>
          <p:cNvPr id="4" name="Content Placeholder 3"/>
          <p:cNvSpPr/>
          <p:nvPr>
            <p:ph idx="1"/>
          </p:nvPr>
        </p:nvSpPr>
        <p:spPr>
          <a:xfrm>
            <a:off x="2994660" y="1466850"/>
            <a:ext cx="6202680" cy="4382770"/>
          </a:xfrm>
        </p:spPr>
        <p:txBody>
          <a:bodyPr/>
          <a:p>
            <a:r>
              <a:rPr lang="en-US" sz="2400"/>
              <a:t>Change passwords immediately</a:t>
            </a:r>
            <a:endParaRPr lang="en-US" sz="2400"/>
          </a:p>
          <a:p>
            <a:endParaRPr lang="en-US" sz="2400"/>
          </a:p>
          <a:p>
            <a:r>
              <a:rPr lang="en-US" sz="2400"/>
              <a:t>Enable 2FA</a:t>
            </a:r>
            <a:endParaRPr lang="en-US" sz="2400"/>
          </a:p>
          <a:p>
            <a:endParaRPr lang="en-US" sz="2400"/>
          </a:p>
          <a:p>
            <a:r>
              <a:rPr lang="en-US" sz="2400"/>
              <a:t>Inform bank/company</a:t>
            </a:r>
            <a:endParaRPr lang="en-US" sz="2400"/>
          </a:p>
          <a:p>
            <a:endParaRPr lang="en-US" sz="2400"/>
          </a:p>
          <a:p>
            <a:r>
              <a:rPr lang="en-US" sz="2400"/>
              <a:t>Scan device for malware</a:t>
            </a:r>
            <a:endParaRPr lang="en-US" sz="2400"/>
          </a:p>
          <a:p>
            <a:endParaRPr lang="en-US" sz="2400"/>
          </a:p>
          <a:p>
            <a:r>
              <a:rPr lang="en-US" sz="2400"/>
              <a:t>Monitor accounts for suspicious activity</a:t>
            </a:r>
            <a:endParaRPr 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560705"/>
            <a:ext cx="10972800" cy="582613"/>
          </a:xfrm>
        </p:spPr>
        <p:txBody>
          <a:bodyPr/>
          <a:p>
            <a:r>
              <a:rPr lang="en-US" sz="4000" i="1"/>
              <a:t>Short Quiz (Awareness Check)</a:t>
            </a:r>
            <a:endParaRPr lang="en-US" sz="40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475" y="2207260"/>
            <a:ext cx="9162415" cy="2823845"/>
          </a:xfrm>
        </p:spPr>
        <p:txBody>
          <a:bodyPr/>
          <a:p>
            <a:pPr marL="0" indent="0">
              <a:buNone/>
            </a:pPr>
            <a:r>
              <a:rPr lang="en-US" sz="2800" b="1" i="1"/>
              <a:t>Q1: Is it safe to click links in urgent emails?</a:t>
            </a:r>
            <a:endParaRPr lang="en-US" sz="2800" b="1" i="1"/>
          </a:p>
          <a:p>
            <a:pPr marL="0" indent="0">
              <a:buNone/>
            </a:pPr>
            <a:endParaRPr lang="en-US" sz="2800" b="1" i="1"/>
          </a:p>
          <a:p>
            <a:pPr marL="0" indent="0">
              <a:buNone/>
            </a:pPr>
            <a:r>
              <a:rPr lang="en-US" sz="2800" b="1" i="1"/>
              <a:t>Q2: What is smishing?</a:t>
            </a:r>
            <a:endParaRPr lang="en-US" sz="2800" b="1" i="1"/>
          </a:p>
          <a:p>
            <a:pPr marL="0" indent="0">
              <a:buNone/>
            </a:pPr>
            <a:endParaRPr lang="en-US" sz="2800" b="1" i="1"/>
          </a:p>
          <a:p>
            <a:pPr marL="0" indent="0">
              <a:buNone/>
            </a:pPr>
            <a:r>
              <a:rPr lang="en-US" sz="2800" b="1" i="1"/>
              <a:t>Q3: Name one phishing red flag</a:t>
            </a:r>
            <a:endParaRPr lang="en-US" sz="2800" b="1"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Key Takeaways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975" y="1201420"/>
            <a:ext cx="6189345" cy="4455795"/>
          </a:xfrm>
        </p:spPr>
        <p:txBody>
          <a:bodyPr/>
          <a:p>
            <a:r>
              <a:rPr lang="en-US" sz="2400"/>
              <a:t>Phishing is a serious cyber threat</a:t>
            </a:r>
            <a:endParaRPr lang="en-US" sz="2400"/>
          </a:p>
          <a:p>
            <a:endParaRPr lang="en-US" sz="2400"/>
          </a:p>
          <a:p>
            <a:r>
              <a:rPr lang="en-US" sz="2400"/>
              <a:t>Always think before you click</a:t>
            </a:r>
            <a:endParaRPr lang="en-US" sz="2400"/>
          </a:p>
          <a:p>
            <a:endParaRPr lang="en-US" sz="2400"/>
          </a:p>
          <a:p>
            <a:r>
              <a:rPr lang="en-US" sz="2400"/>
              <a:t>Verify before trusting</a:t>
            </a:r>
            <a:endParaRPr lang="en-US" sz="2400"/>
          </a:p>
          <a:p>
            <a:endParaRPr lang="en-US" sz="2400"/>
          </a:p>
          <a:p>
            <a:r>
              <a:rPr lang="en-US" sz="2400"/>
              <a:t>Awareness is the best defense</a:t>
            </a:r>
            <a:endParaRPr lang="en-US" sz="2400"/>
          </a:p>
          <a:p>
            <a:endParaRPr lang="en-US" sz="2400"/>
          </a:p>
          <a:p>
            <a:r>
              <a:rPr lang="en-US" sz="2400"/>
              <a:t>One mistake can lead to big loss</a:t>
            </a:r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 b="1"/>
              <a:t>Conclusion</a:t>
            </a:r>
            <a:endParaRPr 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3965" y="1629410"/>
            <a:ext cx="7163435" cy="3397885"/>
          </a:xfrm>
        </p:spPr>
        <p:txBody>
          <a:bodyPr/>
          <a:p>
            <a:r>
              <a:rPr lang="en-US" sz="2400"/>
              <a:t>Phishing attacks are increasing daily</a:t>
            </a:r>
            <a:endParaRPr lang="en-US" sz="2400"/>
          </a:p>
          <a:p>
            <a:endParaRPr lang="en-US" sz="2400"/>
          </a:p>
          <a:p>
            <a:r>
              <a:rPr lang="en-US" sz="2400"/>
              <a:t>Everyone is a target</a:t>
            </a:r>
            <a:endParaRPr lang="en-US" sz="2400"/>
          </a:p>
          <a:p>
            <a:endParaRPr lang="en-US" sz="2400"/>
          </a:p>
          <a:p>
            <a:r>
              <a:rPr lang="en-US" sz="2400"/>
              <a:t>Stay alert, stay secure</a:t>
            </a:r>
            <a:endParaRPr lang="en-US" sz="2400"/>
          </a:p>
          <a:p>
            <a:endParaRPr lang="en-US" sz="2400"/>
          </a:p>
          <a:p>
            <a:r>
              <a:rPr lang="en-US" sz="2400"/>
              <a:t>Cybersecurity starts with awareness</a:t>
            </a:r>
            <a:endParaRPr 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9320" y="1459230"/>
            <a:ext cx="5505450" cy="1325880"/>
          </a:xfrm>
        </p:spPr>
        <p:txBody>
          <a:bodyPr/>
          <a:p>
            <a:r>
              <a:rPr lang="en-US" sz="4400" b="1"/>
              <a:t>Thank You</a:t>
            </a:r>
            <a:endParaRPr lang="en-US" sz="44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610" y="4456430"/>
            <a:ext cx="10515600" cy="1551940"/>
          </a:xfrm>
        </p:spPr>
        <p:txBody>
          <a:bodyPr/>
          <a:p>
            <a:r>
              <a:rPr lang="en-US" sz="2000"/>
              <a:t>Google Form Quiz Link  ==&gt; 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	</a:t>
            </a:r>
            <a:r>
              <a:rPr lang="en-US" sz="2000" u="sng">
                <a:solidFill>
                  <a:srgbClr val="0070C0"/>
                </a:solidFill>
              </a:rPr>
              <a:t>https://docs.google.com/forms/d/e/1FAIpQLSc88JNf-4TXSZ3FxbLT3zc4SE5GcwR1qTfhpCKKKBrel6llBQ/viewform?usp=header</a:t>
            </a:r>
            <a:endParaRPr lang="en-US" sz="2000" u="sng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3232</Words>
  <Application>WPS Presentation</Application>
  <PresentationFormat>宽屏</PresentationFormat>
  <Paragraphs>266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DejaVu Sans</vt:lpstr>
      <vt:lpstr>Droid Sans Fallback</vt:lpstr>
      <vt:lpstr>Microsoft YaHei</vt:lpstr>
      <vt:lpstr>Arial Unicode MS</vt:lpstr>
      <vt:lpstr>SimSun</vt:lpstr>
      <vt:lpstr>FontAwesome</vt:lpstr>
      <vt:lpstr>MathJax_Vector</vt:lpstr>
      <vt:lpstr>Orange Waves</vt:lpstr>
      <vt:lpstr>PHISHING AWARENESS TRAINING</vt:lpstr>
      <vt:lpstr>Training Objectives</vt:lpstr>
      <vt:lpstr>What is Phishing?</vt:lpstr>
      <vt:lpstr>Why Phishing is Dangerous</vt:lpstr>
      <vt:lpstr>Common Types of Phishing</vt:lpstr>
      <vt:lpstr>Email Phishing</vt:lpstr>
      <vt:lpstr>Smishing &amp; Vishing</vt:lpstr>
      <vt:lpstr>Website Phishing</vt:lpstr>
      <vt:lpstr>How Phishing Attacks Work</vt:lpstr>
      <vt:lpstr>Real Phishing Email Example</vt:lpstr>
      <vt:lpstr>Red Flags of Phishing Emails</vt:lpstr>
      <vt:lpstr>Identifying Fake Links</vt:lpstr>
      <vt:lpstr>Social Engineering</vt:lpstr>
      <vt:lpstr>Common Social Engineering Techniques</vt:lpstr>
      <vt:lpstr>How to Avoid Phishing</vt:lpstr>
      <vt:lpstr>What To Do If You Receive a Phishing Message</vt:lpstr>
      <vt:lpstr>What If You Are a Victim?</vt:lpstr>
      <vt:lpstr>Short Quiz (Awareness Check)</vt:lpstr>
      <vt:lpstr>Key Takeaways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kali</cp:lastModifiedBy>
  <cp:revision>13</cp:revision>
  <dcterms:created xsi:type="dcterms:W3CDTF">2026-01-14T08:46:34Z</dcterms:created>
  <dcterms:modified xsi:type="dcterms:W3CDTF">2026-01-14T08:46:34Z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</Properties>
</file>